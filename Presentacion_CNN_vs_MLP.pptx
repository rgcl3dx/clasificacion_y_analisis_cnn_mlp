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8872" cy="4251960"/>
          </a:xfrm>
          <a:prstGeom prst="rect">
            <a:avLst/>
          </a:prstGeom>
          <a:solidFill>
            <a:srgbClr val="2C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61872"/>
            <a:ext cx="9966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Clasificación multiclase de</a:t>
            </a:r>
            <a:br/>
            <a:r>
              <a:t>razas de perros</a:t>
            </a:r>
          </a:p>
          <a:p>
            <a:pPr>
              <a:spcBef>
                <a:spcPts val="1400"/>
              </a:spcBef>
              <a:defRPr sz="1900">
                <a:solidFill>
                  <a:srgbClr val="C2CFDF"/>
                </a:solidFill>
              </a:defRPr>
            </a:pPr>
            <a:r>
              <a:t>CNN vs MLP · Evaluación 2 TLY1102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1605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Oxford-IIIT Pet Dataset · 25 razas · 4.990 imágenes</a:t>
            </a:r>
          </a:p>
          <a:p>
            <a:pPr>
              <a:spcAft>
                <a:spcPts val="700"/>
              </a:spcAft>
              <a:defRPr sz="1200">
                <a:solidFill>
                  <a:srgbClr val="BECADA"/>
                </a:solidFill>
                <a:latin typeface="Aptos"/>
              </a:defRPr>
            </a:pPr>
            <a:r>
              <a:t>Ronald Cerda · Francisco Fierro · Ignacio Rodríguez</a:t>
            </a:r>
          </a:p>
          <a:p>
            <a:pPr>
              <a:spcAft>
                <a:spcPts val="700"/>
              </a:spcAft>
              <a:defRPr sz="1200">
                <a:solidFill>
                  <a:srgbClr val="BECADA"/>
                </a:solidFill>
                <a:latin typeface="Aptos"/>
              </a:defRPr>
            </a:pPr>
            <a:r>
              <a:t>13 de octubre de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4919472"/>
            <a:ext cx="2011680" cy="566928"/>
          </a:xfrm>
          <a:prstGeom prst="roundRect">
            <a:avLst/>
          </a:prstGeom>
          <a:solidFill>
            <a:srgbClr val="2C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1160" y="502005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Presentación · 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C"/>
                </a:solidFill>
                <a:latin typeface="Aptos Display"/>
              </a:defRPr>
            </a:pPr>
            <a:r>
              <a:t>1. Problema y preparación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  <a:latin typeface="Aptos"/>
              </a:defRPr>
            </a:pPr>
            <a:r>
              <a:t>Variante propia: solo perros, clasificación multiclase de 25 razas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C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4663440" cy="4526280"/>
          </a:xfrm>
          <a:prstGeom prst="roundRect">
            <a:avLst/>
          </a:prstGeom>
          <a:solidFill>
            <a:srgbClr val="F4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243C"/>
                </a:solidFill>
              </a:defRPr>
            </a:pPr>
            <a: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4069080" cy="3246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Clasificar una imagen de perro en una de 25 razas.</a:t>
            </a:r>
          </a:p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Comparar una CNN con el MLP de la evaluación anterior.</a:t>
            </a:r>
          </a:p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Mismo problema y misma partición para una comparación justa.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417320"/>
            <a:ext cx="2514600" cy="1078992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417320"/>
            <a:ext cx="73152" cy="1078992"/>
          </a:xfrm>
          <a:prstGeom prst="rect">
            <a:avLst/>
          </a:prstGeom>
          <a:solidFill>
            <a:srgbClr val="2C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527048"/>
            <a:ext cx="2240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4.990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imágenes de perros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417320"/>
            <a:ext cx="2514600" cy="1078992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1417320"/>
            <a:ext cx="73152" cy="1078992"/>
          </a:xfrm>
          <a:prstGeom prst="rect">
            <a:avLst/>
          </a:prstGeom>
          <a:solidFill>
            <a:srgbClr val="30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527048"/>
            <a:ext cx="2240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25 razas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clases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761488"/>
            <a:ext cx="2514600" cy="1078992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2761488"/>
            <a:ext cx="73152" cy="1078992"/>
          </a:xfrm>
          <a:prstGeom prst="rect">
            <a:avLst/>
          </a:prstGeom>
          <a:solidFill>
            <a:srgbClr val="E8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2871216"/>
            <a:ext cx="2240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64 × 64 × 3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tamaño de entrada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761488"/>
            <a:ext cx="2514600" cy="1078992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2761488"/>
            <a:ext cx="73152" cy="1078992"/>
          </a:xfrm>
          <a:prstGeom prst="rect">
            <a:avLst/>
          </a:prstGeom>
          <a:solidFill>
            <a:srgbClr val="43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2871216"/>
            <a:ext cx="2240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[0, 1]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normalización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224528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43C"/>
                </a:solidFill>
              </a:defRPr>
            </a:pPr>
            <a:r>
              <a:t>Partición estratificada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4681728"/>
            <a:ext cx="3648456" cy="502920"/>
          </a:xfrm>
          <a:prstGeom prst="rect">
            <a:avLst/>
          </a:prstGeom>
          <a:solidFill>
            <a:srgbClr val="2C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4791456"/>
            <a:ext cx="3648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70% 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63456" y="4681728"/>
            <a:ext cx="781812" cy="502920"/>
          </a:xfrm>
          <a:prstGeom prst="rect">
            <a:avLst/>
          </a:prstGeom>
          <a:solidFill>
            <a:srgbClr val="30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4791456"/>
            <a:ext cx="7818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15% 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5268" y="4681728"/>
            <a:ext cx="781812" cy="502920"/>
          </a:xfrm>
          <a:prstGeom prst="rect">
            <a:avLst/>
          </a:prstGeom>
          <a:solidFill>
            <a:srgbClr val="E8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5268" y="4791456"/>
            <a:ext cx="7818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15%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C"/>
                </a:solidFill>
                <a:latin typeface="Aptos Display"/>
              </a:defRPr>
            </a:pPr>
            <a:r>
              <a:t>2. Arquitectura CNN y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  <a:latin typeface="Aptos"/>
              </a:defRPr>
            </a:pPr>
            <a:r>
              <a:t>Red simple, desde cero y sin capas extra de regularización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C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417320" cy="1051560"/>
          </a:xfrm>
          <a:prstGeom prst="roundRect">
            <a:avLst/>
          </a:prstGeom>
          <a:solidFill>
            <a:srgbClr val="2C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Entrada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64×64×3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350008"/>
            <a:ext cx="182880" cy="0"/>
          </a:xfrm>
          <a:prstGeom prst="line">
            <a:avLst/>
          </a:prstGeom>
          <a:ln w="1778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1828800"/>
            <a:ext cx="1417320" cy="1051560"/>
          </a:xfrm>
          <a:prstGeom prst="roundRect">
            <a:avLst/>
          </a:prstGeom>
          <a:solidFill>
            <a:srgbClr val="30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Conv2D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32 filtros · 3×3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11880" y="2350008"/>
            <a:ext cx="182880" cy="0"/>
          </a:xfrm>
          <a:prstGeom prst="line">
            <a:avLst/>
          </a:prstGeom>
          <a:ln w="1778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1828800"/>
            <a:ext cx="1417320" cy="1051560"/>
          </a:xfrm>
          <a:prstGeom prst="roundRect">
            <a:avLst/>
          </a:prstGeom>
          <a:solidFill>
            <a:srgbClr val="5C7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MaxPool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2×2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12080" y="2350008"/>
            <a:ext cx="182880" cy="0"/>
          </a:xfrm>
          <a:prstGeom prst="line">
            <a:avLst/>
          </a:prstGeom>
          <a:ln w="1778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1828800"/>
            <a:ext cx="1417320" cy="1051560"/>
          </a:xfrm>
          <a:prstGeom prst="roundRect">
            <a:avLst/>
          </a:prstGeom>
          <a:solidFill>
            <a:srgbClr val="30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Conv2D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64 filtros · 3×3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12280" y="2350008"/>
            <a:ext cx="182880" cy="0"/>
          </a:xfrm>
          <a:prstGeom prst="line">
            <a:avLst/>
          </a:prstGeom>
          <a:ln w="1778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95160" y="1828800"/>
            <a:ext cx="1417320" cy="1051560"/>
          </a:xfrm>
          <a:prstGeom prst="roundRect">
            <a:avLst/>
          </a:prstGeom>
          <a:solidFill>
            <a:srgbClr val="5C7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MaxPool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2×2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0" y="2350008"/>
            <a:ext cx="182880" cy="0"/>
          </a:xfrm>
          <a:prstGeom prst="line">
            <a:avLst/>
          </a:prstGeom>
          <a:ln w="1778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1828800"/>
            <a:ext cx="1417320" cy="1051560"/>
          </a:xfrm>
          <a:prstGeom prst="roundRect">
            <a:avLst/>
          </a:prstGeom>
          <a:solidFill>
            <a:srgbClr val="E8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Dense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256 · ReLU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12680" y="2350008"/>
            <a:ext cx="182880" cy="0"/>
          </a:xfrm>
          <a:prstGeom prst="line">
            <a:avLst/>
          </a:prstGeom>
          <a:ln w="17780">
            <a:solidFill>
              <a:srgbClr val="AAB2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95560" y="1828800"/>
            <a:ext cx="1417320" cy="1051560"/>
          </a:xfrm>
          <a:prstGeom prst="roundRect">
            <a:avLst/>
          </a:prstGeom>
          <a:solidFill>
            <a:srgbClr val="43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2" y="1993392"/>
            <a:ext cx="1271016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Salida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25 · Softmax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74720"/>
            <a:ext cx="10607040" cy="21945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Convoluciones: mantienen la estructura espacial y extraen bordes, texturas y formas.</a:t>
            </a:r>
          </a:p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Pooling: reduce dimensiones y costo computacional.</a:t>
            </a:r>
          </a:p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Softmax: entrega probabilidades para las 25 clases.</a:t>
            </a:r>
          </a:p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Adam · LR 0.0001 · 10 épocas: configuración usada en el entrenamiento final.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5715000"/>
            <a:ext cx="210312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5824728"/>
            <a:ext cx="1874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243C"/>
                </a:solidFill>
              </a:defRPr>
            </a:pPr>
            <a:r>
              <a:t>4.220.377 parámetros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C"/>
                </a:solidFill>
                <a:latin typeface="Aptos Display"/>
              </a:defRPr>
            </a:pPr>
            <a:r>
              <a:t>3. Resultados de la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  <a:latin typeface="Aptos"/>
              </a:defRPr>
            </a:pPr>
            <a:r>
              <a:t>Resultados reales de la ejecución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C"/>
                </a:solidFill>
              </a:defRPr>
            </a:pPr>
            <a:r>
              <a:t>4</a:t>
            </a:r>
          </a:p>
        </p:txBody>
      </p:sp>
      <p:pic>
        <p:nvPicPr>
          <p:cNvPr id="6" name="Picture 5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629400" cy="23386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444752"/>
            <a:ext cx="17830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444752"/>
            <a:ext cx="73152" cy="960120"/>
          </a:xfrm>
          <a:prstGeom prst="rect">
            <a:avLst/>
          </a:prstGeom>
          <a:solidFill>
            <a:srgbClr val="2C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2" y="155448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19,49%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Top-1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444752"/>
            <a:ext cx="17830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0" y="1444752"/>
            <a:ext cx="73152" cy="960120"/>
          </a:xfrm>
          <a:prstGeom prst="rect">
            <a:avLst/>
          </a:prstGeom>
          <a:solidFill>
            <a:srgbClr val="30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55448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56,88%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Top-5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679192"/>
            <a:ext cx="17830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2679192"/>
            <a:ext cx="73152" cy="960120"/>
          </a:xfrm>
          <a:prstGeom prst="rect">
            <a:avLst/>
          </a:prstGeom>
          <a:solidFill>
            <a:srgbClr val="E8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27889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18,31%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679192"/>
            <a:ext cx="17830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0" y="2679192"/>
            <a:ext cx="73152" cy="960120"/>
          </a:xfrm>
          <a:prstGeom prst="rect">
            <a:avLst/>
          </a:prstGeom>
          <a:solidFill>
            <a:srgbClr val="43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74352" y="278892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19,50%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913632"/>
            <a:ext cx="17830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3913632"/>
            <a:ext cx="73152" cy="960120"/>
          </a:xfrm>
          <a:prstGeom prst="rect">
            <a:avLst/>
          </a:prstGeom>
          <a:solidFill>
            <a:srgbClr val="795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402336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18,27%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F1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913632"/>
            <a:ext cx="178308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3913632"/>
            <a:ext cx="73152" cy="960120"/>
          </a:xfrm>
          <a:prstGeom prst="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402336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43C"/>
                </a:solidFill>
              </a:defRPr>
            </a:pPr>
            <a:r>
              <a:t>341,58 s</a:t>
            </a:r>
          </a:p>
          <a:p>
            <a:pPr>
              <a:defRPr sz="1050">
                <a:solidFill>
                  <a:srgbClr val="64707D"/>
                </a:solidFill>
              </a:defRPr>
            </a:pPr>
            <a:r>
              <a:t>Tiempo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5285232"/>
            <a:ext cx="3794760" cy="868680"/>
          </a:xfrm>
          <a:prstGeom prst="roundRect">
            <a:avLst/>
          </a:prstGeom>
          <a:solidFill>
            <a:srgbClr val="FCF6EB"/>
          </a:solidFill>
          <a:ln>
            <a:solidFill>
              <a:srgbClr val="EC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5468112"/>
            <a:ext cx="34015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2937"/>
                </a:solidFill>
              </a:defRPr>
            </a:pPr>
            <a:r>
              <a:t>La brecha Train (40,62%) vs Val (22,59%) indica sobreajuste.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C"/>
                </a:solidFill>
                <a:latin typeface="Aptos Display"/>
              </a:defRPr>
            </a:pPr>
            <a:r>
              <a:t>4. Qué aprendió la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  <a:latin typeface="Aptos"/>
              </a:defRPr>
            </a:pPr>
            <a:r>
              <a:t>Feature Maps y mapas de activación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C"/>
                </a:solidFill>
              </a:defRPr>
            </a:pPr>
            <a:r>
              <a:t>5</a:t>
            </a:r>
          </a:p>
        </p:txBody>
      </p:sp>
      <p:pic>
        <p:nvPicPr>
          <p:cNvPr id="6" name="Picture 5" descr="fea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166360" cy="2657113"/>
          </a:xfrm>
          <a:prstGeom prst="rect">
            <a:avLst/>
          </a:prstGeom>
        </p:spPr>
      </p:pic>
      <p:pic>
        <p:nvPicPr>
          <p:cNvPr id="7" name="Picture 6" descr="feat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76472"/>
            <a:ext cx="5166360" cy="2657113"/>
          </a:xfrm>
          <a:prstGeom prst="rect">
            <a:avLst/>
          </a:prstGeom>
        </p:spPr>
      </p:pic>
      <p:pic>
        <p:nvPicPr>
          <p:cNvPr id="8" name="Picture 7" descr="acti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371600"/>
            <a:ext cx="5394960" cy="54317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5349240"/>
            <a:ext cx="5074920" cy="713232"/>
          </a:xfrm>
          <a:prstGeom prst="roundRect">
            <a:avLst/>
          </a:prstGeom>
          <a:solidFill>
            <a:srgbClr val="F7F9FC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486400"/>
            <a:ext cx="47365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1F2937"/>
                </a:solidFill>
              </a:defRPr>
            </a:pPr>
            <a:r>
              <a:t>Capas iniciales: bordes/texturas · Capas posteriores: patrones más específicos. El fondo también puede influir en algunos errores.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C"/>
                </a:solidFill>
                <a:latin typeface="Aptos Display"/>
              </a:defRPr>
            </a:pPr>
            <a:r>
              <a:t>5. Comparación final: MLP vs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  <a:latin typeface="Aptos"/>
              </a:defRPr>
            </a:pPr>
            <a:r>
              <a:t>Mismo problema, mismo conjunto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0AC"/>
                </a:solidFill>
              </a:defRPr>
            </a:pPr>
            <a:r>
              <a:t>6</a:t>
            </a:r>
          </a:p>
        </p:txBody>
      </p:sp>
      <p:pic>
        <p:nvPicPr>
          <p:cNvPr id="6" name="Picture 5" descr="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720840" cy="27660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508760"/>
            <a:ext cx="1600200" cy="530352"/>
          </a:xfrm>
          <a:prstGeom prst="rect">
            <a:avLst/>
          </a:prstGeom>
          <a:solidFill>
            <a:srgbClr val="1424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6184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Indicador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508760"/>
            <a:ext cx="1234440" cy="530352"/>
          </a:xfrm>
          <a:prstGeom prst="rect">
            <a:avLst/>
          </a:prstGeom>
          <a:solidFill>
            <a:srgbClr val="1424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87000" y="1508760"/>
            <a:ext cx="1234440" cy="530352"/>
          </a:xfrm>
          <a:prstGeom prst="rect">
            <a:avLst/>
          </a:prstGeom>
          <a:solidFill>
            <a:srgbClr val="1424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0" y="1618488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2039112"/>
            <a:ext cx="16002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148840"/>
            <a:ext cx="1545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Top-1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039112"/>
            <a:ext cx="12344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2148840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13,62%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7000" y="2039112"/>
            <a:ext cx="12344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14432" y="2148840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1">
                <a:solidFill>
                  <a:srgbClr val="1F2937"/>
                </a:solidFill>
              </a:defRPr>
            </a:pPr>
            <a:r>
              <a:t>19,49%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569463"/>
            <a:ext cx="1600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2679191"/>
            <a:ext cx="1545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Top-5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569463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2" y="2679191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45,79%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2569463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2679191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1">
                <a:solidFill>
                  <a:srgbClr val="1F2937"/>
                </a:solidFill>
              </a:defRPr>
            </a:pPr>
            <a:r>
              <a:t>56,88%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3099815"/>
            <a:ext cx="160020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3209544"/>
            <a:ext cx="1545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Parámetros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099815"/>
            <a:ext cx="12344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209544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6,43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87000" y="3099815"/>
            <a:ext cx="1234440" cy="530352"/>
          </a:xfrm>
          <a:prstGeom prst="rect">
            <a:avLst/>
          </a:prstGeom>
          <a:solidFill>
            <a:srgbClr val="F4F7FA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14432" y="3209544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4,22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3630168"/>
            <a:ext cx="16002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3739896"/>
            <a:ext cx="15453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Tiempo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630168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3739896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169,29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87000" y="3630168"/>
            <a:ext cx="12344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14432" y="3739896"/>
            <a:ext cx="1179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70" b="0">
                <a:solidFill>
                  <a:srgbClr val="1F2937"/>
                </a:solidFill>
              </a:defRPr>
            </a:pPr>
            <a:r>
              <a:t>341,58 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4526280"/>
            <a:ext cx="4069080" cy="1298448"/>
          </a:xfrm>
          <a:prstGeom prst="roundRect">
            <a:avLst/>
          </a:prstGeom>
          <a:solidFill>
            <a:srgbClr val="EDF8F7"/>
          </a:solidFill>
          <a:ln>
            <a:solidFill>
              <a:srgbClr val="AFD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4663440"/>
            <a:ext cx="3703320" cy="987552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CNN: mejor rendimiento y menos parámetros.</a:t>
            </a:r>
          </a:p>
          <a:p>
            <a:pPr>
              <a:spcAft>
                <a:spcPts val="1000"/>
              </a:spcAft>
              <a:defRPr>
                <a:latin typeface="Aptos"/>
              </a:defRPr>
            </a:pPr>
            <a:r>
              <a:t>• MLP: entrena más rápido, pero pierde información espacial.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7.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4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61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Para esta variante, la CNN fue más adecuada que el MLP.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3383280" cy="1874519"/>
          </a:xfrm>
          <a:prstGeom prst="roundRect">
            <a:avLst/>
          </a:prstGeom>
          <a:solidFill>
            <a:srgbClr val="1F334E"/>
          </a:solidFill>
          <a:ln w="19050">
            <a:solidFill>
              <a:srgbClr val="2C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C9B97"/>
                </a:solidFill>
              </a:defRPr>
            </a:pPr>
            <a:r>
              <a:t>Mejor desempeño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19,49% Top-1</a:t>
            </a:r>
            <a:br/>
            <a:r>
              <a:t>56,88% Top-5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788920"/>
            <a:ext cx="3383280" cy="1874519"/>
          </a:xfrm>
          <a:prstGeom prst="roundRect">
            <a:avLst/>
          </a:prstGeom>
          <a:solidFill>
            <a:srgbClr val="1F334E"/>
          </a:solidFill>
          <a:ln w="19050">
            <a:solidFill>
              <a:srgbClr val="30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306324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05EA0"/>
                </a:solidFill>
              </a:defRPr>
            </a:pPr>
            <a:r>
              <a:t>Menos parámetros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4,22 M vs 6,43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788920"/>
            <a:ext cx="3383280" cy="1874519"/>
          </a:xfrm>
          <a:prstGeom prst="roundRect">
            <a:avLst/>
          </a:prstGeom>
          <a:solidFill>
            <a:srgbClr val="1F334E"/>
          </a:solidFill>
          <a:ln w="19050"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306324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89137"/>
                </a:solidFill>
              </a:defRPr>
            </a:pPr>
            <a:r>
              <a:t>Limitación principal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Sobreajuste y razas visualmente similares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578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FDBE9"/>
                </a:solidFill>
              </a:defRPr>
            </a:pPr>
            <a:r>
              <a:t>Resultado: la CNN conserva información espacial y mejora la clasificación, aunque todavía requiere una mejor generalización.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6. Mejoras futuras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8D4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61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Objetivo: reducir el sobreajuste y mejorar la generalización.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3383280" cy="1874519"/>
          </a:xfrm>
          <a:prstGeom prst="roundRect">
            <a:avLst/>
          </a:prstGeom>
          <a:solidFill>
            <a:srgbClr val="1F334E"/>
          </a:solidFill>
          <a:ln w="19050">
            <a:solidFill>
              <a:srgbClr val="2C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C9B97"/>
                </a:solidFill>
              </a:defRPr>
            </a:pPr>
            <a:r>
              <a:t>Más datos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Aumentar imágenes por raza y evaluar aumento de datos.</a:t>
            </a:r>
            <a:br/>
            <a: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788920"/>
            <a:ext cx="3383280" cy="1874519"/>
          </a:xfrm>
          <a:prstGeom prst="roundRect">
            <a:avLst/>
          </a:prstGeom>
          <a:solidFill>
            <a:srgbClr val="1F334E"/>
          </a:solidFill>
          <a:ln w="19050">
            <a:solidFill>
              <a:srgbClr val="305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306324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305EA0"/>
                </a:solidFill>
              </a:defRPr>
            </a:pPr>
            <a:r>
              <a:t>Mayor resolución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Evaluar imágenes de mayor tamaño para conservar detalles finos.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2788920"/>
            <a:ext cx="3383280" cy="1874519"/>
          </a:xfrm>
          <a:prstGeom prst="roundRect">
            <a:avLst/>
          </a:prstGeom>
          <a:solidFill>
            <a:srgbClr val="1F334E"/>
          </a:solidFill>
          <a:ln w="19050">
            <a:solidFill>
              <a:srgbClr val="E8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3063240"/>
            <a:ext cx="2926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89137"/>
                </a:solidFill>
              </a:defRPr>
            </a:pPr>
            <a:r>
              <a:t>Arquitectura</a:t>
            </a:r>
          </a:p>
          <a:p>
            <a:pPr algn="ctr"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Evaluar CNN más profundas o modelos preentrenados a futuro.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578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FDBE9"/>
                </a:solidFill>
              </a:defRPr>
            </a:pPr>
            <a:r>
              <a:t>Estas mejoras se proponen como trabajo futuro y no modifican el modelo evaluado.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